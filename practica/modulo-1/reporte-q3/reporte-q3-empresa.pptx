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ed24413c-65f4-db90-f111-315b46275bd1}">
          <p14:sldIdLst>
            <p14:sldId id="256"/>
          </p14:sldIdLst>
        </p14:section>
        <p14:section name="Insights Q3" id="{ce792efd-ea9d-058a-a1d8-b17959da5e6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7C8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6B7C8F"/>
                </a:solidFill>
                <a:latin typeface="+mn-lt"/>
              </a:rPr>
              <a:t>Facturación por mes (miles de 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Facturación</c:v>
                </c:pt>
              </c:strCache>
            </c:strRef>
          </c:tx>
          <c:spPr>
            <a:solidFill>
              <a:srgbClr val="8FA8C0"/>
            </a:solidFill>
            <a:effectLst/>
          </c:spPr>
          <c:invertIfNegative val="0"/>
          <c:dLbls>
            <c:numFmt formatCode="&quot;$&quot;#,##0&quot; K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3A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8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CA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Julio</c:v>
                  </c:pt>
                  <c:pt idx="1">
                    <c:v>Agosto</c:v>
                  </c:pt>
                  <c:pt idx="2">
                    <c:v>Septiembre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428</c:v>
                </c:pt>
                <c:pt idx="1">
                  <c:v>490</c:v>
                </c:pt>
                <c:pt idx="2">
                  <c:v>415</c:v>
                </c:pt>
              </c:numCache>
            </c:numRef>
          </c:val>
        </c:ser>
        <c:dLbls>
          <c:numFmt formatCode="&quot;$&quot;#,##0&quot; K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3A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C8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7C8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6B7C8F"/>
                </a:solidFill>
                <a:latin typeface="+mn-lt"/>
              </a:rPr>
              <a:t>Participación en la facturación por producto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 facturación</c:v>
                </c:pt>
              </c:strCache>
            </c:strRef>
          </c:tx>
          <c:spPr>
            <a:solidFill>
              <a:srgbClr val="2E9CA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3A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C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8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8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8C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Implementación</c:v>
                  </c:pt>
                  <c:pt idx="1">
                    <c:v>Licencia anual</c:v>
                  </c:pt>
                  <c:pt idx="2">
                    <c:v>Capacitación</c:v>
                  </c:pt>
                  <c:pt idx="3">
                    <c:v>Soporte mensual</c:v>
                  </c:pt>
                  <c:pt idx="4">
                    <c:v>Consultoría (hora)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25.8</c:v>
                </c:pt>
                <c:pt idx="2">
                  <c:v>17.3</c:v>
                </c:pt>
                <c:pt idx="3">
                  <c:v>7</c:v>
                </c:pt>
                <c:pt idx="4">
                  <c:v>1.9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3A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D6E3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C8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las operaciones</c:v>
                </c:pt>
              </c:strCache>
            </c:strRef>
          </c:tx>
          <c:spPr>
            <a:solidFill>
              <a:srgbClr val="C9D6E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A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Implementación</c:v>
                  </c:pt>
                  <c:pt idx="1">
                    <c:v>Licencia anual</c:v>
                  </c:pt>
                  <c:pt idx="2">
                    <c:v>Capacitación</c:v>
                  </c:pt>
                  <c:pt idx="3">
                    <c:v>Soporte mensual</c:v>
                  </c:pt>
                  <c:pt idx="4">
                    <c:v>Consultoría (hora)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18.9</c:v>
                </c:pt>
                <c:pt idx="1">
                  <c:v>21</c:v>
                </c:pt>
                <c:pt idx="2">
                  <c:v>21.2</c:v>
                </c:pt>
                <c:pt idx="3">
                  <c:v>19.2</c:v>
                </c:pt>
                <c:pt idx="4">
                  <c:v>19.8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 la facturación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A5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Implementación</c:v>
                  </c:pt>
                  <c:pt idx="1">
                    <c:v>Licencia anual</c:v>
                  </c:pt>
                  <c:pt idx="2">
                    <c:v>Capacitación</c:v>
                  </c:pt>
                  <c:pt idx="3">
                    <c:v>Soporte mensual</c:v>
                  </c:pt>
                  <c:pt idx="4">
                    <c:v>Consultoría (hora)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</c:v>
                </c:pt>
                <c:pt idx="1">
                  <c:v>25.8</c:v>
                </c:pt>
                <c:pt idx="2">
                  <c:v>17.3</c:v>
                </c:pt>
                <c:pt idx="3">
                  <c:v>7</c:v>
                </c:pt>
                <c:pt idx="4">
                  <c:v>1.9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3A5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6E3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B7C8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7C8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6B7C8F"/>
                </a:solidFill>
                <a:latin typeface="+mn-lt"/>
              </a:rPr>
              <a:t>Facturación del Q3 según estado de cobro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 de cobro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bubble3D val="0"/>
            <c:spPr>
              <a:solidFill>
                <a:srgbClr val="8FA8C0"/>
              </a:solidFill>
              <a:effectLst/>
            </c:spPr>
          </c:dPt>
          <c:dPt>
            <c:idx val="2"/>
            <c:bubble3D val="0"/>
            <c:spPr>
              <a:solidFill>
                <a:srgbClr val="2E9C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Cobrado al cierre del Q3</c:v>
                </c:pt>
                <c:pt idx="1">
                  <c:v>Cobrado 1–10 de octubre</c:v>
                </c:pt>
                <c:pt idx="2">
                  <c:v>Pendiente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74</c:v>
                </c:pt>
                <c:pt idx="1">
                  <c:v>12.2</c:v>
                </c:pt>
                <c:pt idx="2">
                  <c:v>13.8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C8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7C8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6B7C8F"/>
                </a:solidFill>
                <a:latin typeface="+mn-lt"/>
              </a:rPr>
              <a:t>% de ventas por región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de ventas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bubble3D val="0"/>
            <c:spPr>
              <a:solidFill>
                <a:srgbClr val="8FA8C0"/>
              </a:solidFill>
              <a:effectLst/>
            </c:spPr>
          </c:dPt>
          <c:dPt>
            <c:idx val="2"/>
            <c:bubble3D val="0"/>
            <c:spPr>
              <a:solidFill>
                <a:srgbClr val="2E9C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Centro</c:v>
                </c:pt>
                <c:pt idx="1">
                  <c:v>Norte</c:v>
                </c:pt>
                <c:pt idx="2">
                  <c:v>Sur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42.9</c:v>
                </c:pt>
                <c:pt idx="1">
                  <c:v>30.8</c:v>
                </c:pt>
                <c:pt idx="2">
                  <c:v>26.3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Q3: $1.360.729 en 1.267 ventas con monto (1.281 en total). Julio $427,6 K, agosto $490,1 K, septiembre $415,0 K (-15,3% vs agosto). Implementación: agosto $267,9 K vs septiembre $194,8 K (-$73 K), casi toda la caída del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Implementación $653,4 K (48,0%), Licencia anual $351,5 K (25,8%), Capacitación $235,3 K (17,3%), Soporte mensual $94,6 K (7,0%), Consultoría $26,0 K (1,9%).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Consultoría (hora): 251 ventas (19,8% de las operaciones), $25.960 (1,9% de la facturación), ticket promedio $103,4.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Pendiente: $187.454 en 175 ventas con monto, más 2 pendientes sin monto (177 en total). Cobrado del 1 al 10 de octubre según pagos-actualizados.xlsx: $165.741 en 150 ventas. Mayor deuda por cliente: Luna Eventos $14.348.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Centro $583,5 K (42,9%), Norte $419,7 K (30,8%), Sur $357,5 K (26,3%). Cliente más grande: Grupo Sur $74,5 K (5,5%). Top 5 clientes 26,3%, top 10 49,4%. 24 clientes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EMPRESA DEMO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Título</a:t>
            </a:r>
            <a:endParaRPr lang="en-US" sz="4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Subtítulo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274320"/>
            <a:ext cx="201168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EMPRESA DEMO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3716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Título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Fuente: ventas-q3-limpio.xlsx · Q3 2026 (jul–sep)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Ventas Q3 2026: 5 insights clave</a:t>
            </a:r>
            <a:endParaRPr lang="en-US" sz="4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Reporte para gerencia · Comercial · Octubre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37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El Q3 cerró en $1,36 M; septiembre cayó 15% vs. agosto</a:t>
            </a:r>
            <a:endParaRPr lang="en-US" sz="2800" dirty="0"/>
          </a:p>
        </p:txBody>
      </p:sp>
      <p:sp>
        <p:nvSpPr>
          <p:cNvPr id="3" name="Total tarjeta"/>
          <p:cNvSpPr/>
          <p:nvPr/>
        </p:nvSpPr>
        <p:spPr>
          <a:xfrm>
            <a:off x="548640" y="1463040"/>
            <a:ext cx="329184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otal cifra"/>
          <p:cNvSpPr txBox="1"/>
          <p:nvPr/>
        </p:nvSpPr>
        <p:spPr>
          <a:xfrm>
            <a:off x="822960" y="1627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$1,36 M</a:t>
            </a:r>
            <a:endParaRPr lang="en-US" sz="4000" dirty="0"/>
          </a:p>
        </p:txBody>
      </p:sp>
      <p:sp>
        <p:nvSpPr>
          <p:cNvPr id="5" name="Total texto"/>
          <p:cNvSpPr txBox="1"/>
          <p:nvPr/>
        </p:nvSpPr>
        <p:spPr>
          <a:xfrm>
            <a:off x="82296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facturados en el trimestre</a:t>
            </a:r>
            <a:endParaRPr lang="en-US" sz="1500" dirty="0"/>
          </a:p>
        </p:txBody>
      </p:sp>
      <p:sp>
        <p:nvSpPr>
          <p:cNvPr id="6" name="Ventas tarjeta"/>
          <p:cNvSpPr/>
          <p:nvPr/>
        </p:nvSpPr>
        <p:spPr>
          <a:xfrm>
            <a:off x="548640" y="3200400"/>
            <a:ext cx="329184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Ventas cifra"/>
          <p:cNvSpPr txBox="1"/>
          <p:nvPr/>
        </p:nvSpPr>
        <p:spPr>
          <a:xfrm>
            <a:off x="822960" y="33649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1.281</a:t>
            </a:r>
            <a:endParaRPr lang="en-US" sz="4000" dirty="0"/>
          </a:p>
        </p:txBody>
      </p:sp>
      <p:sp>
        <p:nvSpPr>
          <p:cNvPr id="8" name="Ventas texto"/>
          <p:cNvSpPr txBox="1"/>
          <p:nvPr/>
        </p:nvSpPr>
        <p:spPr>
          <a:xfrm>
            <a:off x="822960" y="4096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ventas, con un ticket promedio de $1.074</a:t>
            </a:r>
            <a:endParaRPr lang="en-US" sz="1500" dirty="0"/>
          </a:p>
        </p:txBody>
      </p:sp>
      <p:sp>
        <p:nvSpPr>
          <p:cNvPr id="9" name="Conclusión mes"/>
          <p:cNvSpPr txBox="1"/>
          <p:nvPr/>
        </p:nvSpPr>
        <p:spPr>
          <a:xfrm>
            <a:off x="548640" y="4937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Casi toda la caída viene de Implementación: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pasó de $268 K en agosto a $195 K en septiembre.</a:t>
            </a:r>
            <a:endParaRPr lang="en-US" sz="1600" dirty="0"/>
          </a:p>
        </p:txBody>
      </p:sp>
      <p:graphicFrame>
        <p:nvGraphicFramePr>
          <p:cNvPr id="10" name="Gráfico mensual" descr=""/>
          <p:cNvGraphicFramePr/>
          <p:nvPr/>
        </p:nvGraphicFramePr>
        <p:xfrm>
          <a:off x="4389120" y="137160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Nota datos"/>
          <p:cNvSpPr txBox="1"/>
          <p:nvPr/>
        </p:nvSpPr>
        <p:spPr>
          <a:xfrm>
            <a:off x="4389120" y="5897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Excluye 24 ventas sin fecha (~$28 K) y 14 ventas sin monto.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37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Implementación genera casi la mitad de la facturación</a:t>
            </a:r>
            <a:endParaRPr lang="en-US" sz="2800" dirty="0"/>
          </a:p>
        </p:txBody>
      </p:sp>
      <p:graphicFrame>
        <p:nvGraphicFramePr>
          <p:cNvPr id="3" name="Gráfico productos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centración tarjeta"/>
          <p:cNvSpPr/>
          <p:nvPr/>
        </p:nvSpPr>
        <p:spPr>
          <a:xfrm>
            <a:off x="8046720" y="1463040"/>
            <a:ext cx="3566160" cy="1691640"/>
          </a:xfrm>
          <a:prstGeom prst="roundRect">
            <a:avLst>
              <a:gd name="adj" fmla="val 8108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centración cifra"/>
          <p:cNvSpPr txBox="1"/>
          <p:nvPr/>
        </p:nvSpPr>
        <p:spPr>
          <a:xfrm>
            <a:off x="8321040" y="16276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74%</a:t>
            </a:r>
            <a:endParaRPr lang="en-US" sz="4000" dirty="0"/>
          </a:p>
        </p:txBody>
      </p:sp>
      <p:sp>
        <p:nvSpPr>
          <p:cNvPr id="6" name="Concentración texto"/>
          <p:cNvSpPr txBox="1"/>
          <p:nvPr/>
        </p:nvSpPr>
        <p:spPr>
          <a:xfrm>
            <a:off x="8321040" y="23591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 la facturación: Implementación + Licencia anual</a:t>
            </a:r>
            <a:endParaRPr lang="en-US" sz="1500" dirty="0"/>
          </a:p>
        </p:txBody>
      </p:sp>
      <p:sp>
        <p:nvSpPr>
          <p:cNvPr id="7" name="Implicancia productos"/>
          <p:cNvSpPr txBox="1"/>
          <p:nvPr/>
        </p:nvSpPr>
        <p:spPr>
          <a:xfrm>
            <a:off x="8046720" y="34747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Implicancia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 trimestre depende de pocos proyectos grandes: un mes flojo de Implementación mueve el total, como pasó en septiembre.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37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Consultoría: 20% de las ventas, solo 2% de los ingresos</a:t>
            </a:r>
            <a:endParaRPr lang="en-US" sz="2800" dirty="0"/>
          </a:p>
        </p:txBody>
      </p:sp>
      <p:graphicFrame>
        <p:nvGraphicFramePr>
          <p:cNvPr id="3" name="Gráfico operaciones vs facturación" descr=""/>
          <p:cNvGraphicFramePr/>
          <p:nvPr/>
        </p:nvGraphicFramePr>
        <p:xfrm>
          <a:off x="548640" y="1371600"/>
          <a:ext cx="72237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sultoría ventas tarjeta"/>
          <p:cNvSpPr/>
          <p:nvPr/>
        </p:nvSpPr>
        <p:spPr>
          <a:xfrm>
            <a:off x="8229600" y="1463040"/>
            <a:ext cx="338328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sultoría ventas cifra"/>
          <p:cNvSpPr txBox="1"/>
          <p:nvPr/>
        </p:nvSpPr>
        <p:spPr>
          <a:xfrm>
            <a:off x="8503920" y="16276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251 ventas</a:t>
            </a:r>
            <a:endParaRPr lang="en-US" sz="4000" dirty="0"/>
          </a:p>
        </p:txBody>
      </p:sp>
      <p:sp>
        <p:nvSpPr>
          <p:cNvPr id="6" name="Consultoría ventas texto"/>
          <p:cNvSpPr txBox="1"/>
          <p:nvPr/>
        </p:nvSpPr>
        <p:spPr>
          <a:xfrm>
            <a:off x="8503920" y="2359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 Consultoría en el trimestre</a:t>
            </a:r>
            <a:endParaRPr lang="en-US" sz="1500" dirty="0"/>
          </a:p>
        </p:txBody>
      </p:sp>
      <p:sp>
        <p:nvSpPr>
          <p:cNvPr id="7" name="Consultoría ticket tarjeta"/>
          <p:cNvSpPr/>
          <p:nvPr/>
        </p:nvSpPr>
        <p:spPr>
          <a:xfrm>
            <a:off x="8229600" y="3200400"/>
            <a:ext cx="338328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onsultoría ticket cifra"/>
          <p:cNvSpPr txBox="1"/>
          <p:nvPr/>
        </p:nvSpPr>
        <p:spPr>
          <a:xfrm>
            <a:off x="8503920" y="33649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~$103</a:t>
            </a:r>
            <a:endParaRPr lang="en-US" sz="4000" dirty="0"/>
          </a:p>
        </p:txBody>
      </p:sp>
      <p:sp>
        <p:nvSpPr>
          <p:cNvPr id="9" name="Consultoría ticket texto"/>
          <p:cNvSpPr txBox="1"/>
          <p:nvPr/>
        </p:nvSpPr>
        <p:spPr>
          <a:xfrm>
            <a:off x="8503920" y="40965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ticket promedio, frente a $1.074 del total</a:t>
            </a:r>
            <a:endParaRPr lang="en-US" sz="1500" dirty="0"/>
          </a:p>
        </p:txBody>
      </p:sp>
      <p:sp>
        <p:nvSpPr>
          <p:cNvPr id="10" name="Propuesta consultoría"/>
          <p:cNvSpPr txBox="1"/>
          <p:nvPr/>
        </p:nvSpPr>
        <p:spPr>
          <a:xfrm>
            <a:off x="8229600" y="4937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evaluar: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empaquetarla en bolsas de horas o usarla como entrada a Implementación.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37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Quedan $187 K por cobrar y la cobranza avanza bien</a:t>
            </a:r>
            <a:endParaRPr lang="en-US" sz="2800" dirty="0"/>
          </a:p>
        </p:txBody>
      </p:sp>
      <p:graphicFrame>
        <p:nvGraphicFramePr>
          <p:cNvPr id="3" name="Gráfico cobranza" descr=""/>
          <p:cNvGraphicFramePr/>
          <p:nvPr/>
        </p:nvGraphicFramePr>
        <p:xfrm>
          <a:off x="548640" y="1371600"/>
          <a:ext cx="56692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endiente tarjeta"/>
          <p:cNvSpPr/>
          <p:nvPr/>
        </p:nvSpPr>
        <p:spPr>
          <a:xfrm>
            <a:off x="6766560" y="1463040"/>
            <a:ext cx="484632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Pendiente cifra"/>
          <p:cNvSpPr txBox="1"/>
          <p:nvPr/>
        </p:nvSpPr>
        <p:spPr>
          <a:xfrm>
            <a:off x="7040880" y="16276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$187 K</a:t>
            </a:r>
            <a:endParaRPr lang="en-US" sz="4000" dirty="0"/>
          </a:p>
        </p:txBody>
      </p:sp>
      <p:sp>
        <p:nvSpPr>
          <p:cNvPr id="6" name="Pendiente texto"/>
          <p:cNvSpPr txBox="1"/>
          <p:nvPr/>
        </p:nvSpPr>
        <p:spPr>
          <a:xfrm>
            <a:off x="704088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pendientes en 177 ventas (14% de lo facturado)</a:t>
            </a:r>
            <a:endParaRPr lang="en-US" sz="1500" dirty="0"/>
          </a:p>
        </p:txBody>
      </p:sp>
      <p:sp>
        <p:nvSpPr>
          <p:cNvPr id="7" name="Cobrado octubre tarjeta"/>
          <p:cNvSpPr/>
          <p:nvPr/>
        </p:nvSpPr>
        <p:spPr>
          <a:xfrm>
            <a:off x="6766560" y="3200400"/>
            <a:ext cx="4846320" cy="150876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obrado octubre cifra"/>
          <p:cNvSpPr txBox="1"/>
          <p:nvPr/>
        </p:nvSpPr>
        <p:spPr>
          <a:xfrm>
            <a:off x="7040880" y="336499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$166 K</a:t>
            </a:r>
            <a:endParaRPr lang="en-US" sz="4000" dirty="0"/>
          </a:p>
        </p:txBody>
      </p:sp>
      <p:sp>
        <p:nvSpPr>
          <p:cNvPr id="9" name="Cobrado octubre texto"/>
          <p:cNvSpPr txBox="1"/>
          <p:nvPr/>
        </p:nvSpPr>
        <p:spPr>
          <a:xfrm>
            <a:off x="7040880" y="40965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cobrados del 1 al 10 de octubre (150 ventas)</a:t>
            </a:r>
            <a:endParaRPr lang="en-US" sz="1500" dirty="0"/>
          </a:p>
        </p:txBody>
      </p:sp>
      <p:sp>
        <p:nvSpPr>
          <p:cNvPr id="10" name="Conclusión cobranza"/>
          <p:cNvSpPr txBox="1"/>
          <p:nvPr/>
        </p:nvSpPr>
        <p:spPr>
          <a:xfrm>
            <a:off x="676656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Deuda repartida: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ningún cliente debe más de $14,3 K. Es un tema de seguimiento, no de un deudor puntual.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37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Centro lidera y la cartera está bien diversificada</a:t>
            </a:r>
            <a:endParaRPr lang="en-US" sz="2800" dirty="0"/>
          </a:p>
        </p:txBody>
      </p:sp>
      <p:graphicFrame>
        <p:nvGraphicFramePr>
          <p:cNvPr id="3" name="Gráfico regiones" descr=""/>
          <p:cNvGraphicFramePr/>
          <p:nvPr/>
        </p:nvGraphicFramePr>
        <p:xfrm>
          <a:off x="548640" y="137160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entro tarjeta"/>
          <p:cNvSpPr/>
          <p:nvPr/>
        </p:nvSpPr>
        <p:spPr>
          <a:xfrm>
            <a:off x="7132320" y="1737360"/>
            <a:ext cx="448056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entro cifra"/>
          <p:cNvSpPr txBox="1"/>
          <p:nvPr/>
        </p:nvSpPr>
        <p:spPr>
          <a:xfrm>
            <a:off x="7406640" y="19019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43%</a:t>
            </a:r>
            <a:endParaRPr lang="en-US" sz="4000" dirty="0"/>
          </a:p>
        </p:txBody>
      </p:sp>
      <p:sp>
        <p:nvSpPr>
          <p:cNvPr id="6" name="Centro texto"/>
          <p:cNvSpPr txBox="1"/>
          <p:nvPr/>
        </p:nvSpPr>
        <p:spPr>
          <a:xfrm>
            <a:off x="7406640" y="2633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 las ventas sale de Centro</a:t>
            </a:r>
            <a:endParaRPr lang="en-US" sz="1500" dirty="0"/>
          </a:p>
        </p:txBody>
      </p:sp>
      <p:sp>
        <p:nvSpPr>
          <p:cNvPr id="7" name="Clientes tarjeta"/>
          <p:cNvSpPr/>
          <p:nvPr/>
        </p:nvSpPr>
        <p:spPr>
          <a:xfrm>
            <a:off x="7132320" y="3383280"/>
            <a:ext cx="4480560" cy="1325880"/>
          </a:xfrm>
          <a:prstGeom prst="roundRect">
            <a:avLst>
              <a:gd name="adj" fmla="val 10345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lientes cifra"/>
          <p:cNvSpPr txBox="1"/>
          <p:nvPr/>
        </p:nvSpPr>
        <p:spPr>
          <a:xfrm>
            <a:off x="7406640" y="35478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5,5%</a:t>
            </a:r>
            <a:endParaRPr lang="en-US" sz="4000" dirty="0"/>
          </a:p>
        </p:txBody>
      </p:sp>
      <p:sp>
        <p:nvSpPr>
          <p:cNvPr id="9" name="Clientes texto"/>
          <p:cNvSpPr txBox="1"/>
          <p:nvPr/>
        </p:nvSpPr>
        <p:spPr>
          <a:xfrm>
            <a:off x="7406640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pesa el cliente más grande</a:t>
            </a:r>
            <a:endParaRPr lang="en-US" sz="1500" dirty="0"/>
          </a:p>
        </p:txBody>
      </p:sp>
      <p:sp>
        <p:nvSpPr>
          <p:cNvPr id="10" name="Conclusión regiones"/>
          <p:cNvSpPr txBox="1"/>
          <p:nvPr/>
        </p:nvSpPr>
        <p:spPr>
          <a:xfrm>
            <a:off x="713232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 tiene el mayor margen para crecer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presa Demo">
  <a:themeElements>
    <a:clrScheme name="Empresa Demo">
      <a:dk1>
        <a:srgbClr val="1A1A1A"/>
      </a:dk1>
      <a:lt1>
        <a:srgbClr val="FFFFFF"/>
      </a:lt1>
      <a:dk2>
        <a:srgbClr val="1F3A5F"/>
      </a:dk2>
      <a:lt2>
        <a:srgbClr val="F4F6F8"/>
      </a:lt2>
      <a:accent1>
        <a:srgbClr val="1F3A5F"/>
      </a:accent1>
      <a:accent2>
        <a:srgbClr val="2E9CA6"/>
      </a:accent2>
      <a:accent3>
        <a:srgbClr val="8FA8C0"/>
      </a:accent3>
      <a:accent4>
        <a:srgbClr val="C9D6E3"/>
      </a:accent4>
      <a:accent5>
        <a:srgbClr val="6B7C8F"/>
      </a:accent5>
      <a:accent6>
        <a:srgbClr val="4A5A6A"/>
      </a:accent6>
      <a:hlink>
        <a:srgbClr val="2E9CA6"/>
      </a:hlink>
      <a:folHlink>
        <a:srgbClr val="6B7C8F"/>
      </a:folHlink>
    </a:clrScheme>
    <a:fontScheme name="Empresa De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Empresa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Ventas Q3 2026: 5 insights clave</dc:title>
  <dc:subject>PptxGenJS Presentation</dc:subject>
  <dc:creator>PptxGenJS</dc:creator>
  <cp:lastModifiedBy>PptxGenJS</cp:lastModifiedBy>
  <cp:revision>1</cp:revision>
  <dcterms:created xsi:type="dcterms:W3CDTF">2026-10-12T22:58:05Z</dcterms:created>
  <dcterms:modified xsi:type="dcterms:W3CDTF">2026-10-12T22:58:05Z</dcterms:modified>
</cp:coreProperties>
</file>